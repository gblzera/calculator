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357B4-9B04-A591-090B-B7ED33621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21AA89-9029-9458-77AC-468566064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5F63F4-F389-C929-930B-366DE483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6164AE-D2EF-79E0-E4CA-B42CFEEA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87E57-407E-CBEF-422A-817E30FE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77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B0DA6-4FD3-5173-9B27-F7A95DB3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777220-8B29-9471-EECB-C8C0FE36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E77C52-73CD-5E21-6564-48B0A8BF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7E1222-F11D-3790-30F0-8A395A72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A7AB30-0ACC-6FC0-7437-B8444F6C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543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54200-73C6-1D19-9C8C-00FA4A84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2EAB8F-F440-05AA-E1D2-D840D05DB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CD4F8D-A04D-A634-F41B-E17B0853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76A48D-7013-6BD0-14A7-D616E3EF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C76312-1175-1D69-4A7C-39B0DE4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867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5B626-13DA-50D3-A7E2-3C687661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33ACEB-2961-4556-426E-077E72DAF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8222C-0003-B8BB-45E2-E0D37B29F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DC478E-4142-D099-8553-2E093117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FBE102-DC8D-6A07-B672-A963463B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757506-0CA8-4869-B294-CB190F35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1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8C703-5DE6-8831-8E3D-9BF5D6C0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2A259C-58A4-4C99-F222-7B754D4AF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C6F4F6-3DC6-43D8-7FCB-07FCFADB2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BEF10B-87D9-DC82-4ACC-AF0637F0D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94402-D72C-E830-CF8D-A1A09DEE8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FFF5DE-0D23-E6AA-71AF-6474D9BB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1B69E74-922F-C0E1-CB58-295E4614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CFBC71-57A1-FCA8-755E-FB144362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900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8C3FB-886C-EAB5-8E86-60B8A284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2CBBA1-2F8B-6D27-9173-9E374140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DE543E-293C-FF2F-3813-26AF9561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00D85D-4E6C-7EF0-AE20-B44E2B26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86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F6E429-D2F7-2578-F872-9323B41F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114034-D843-07C9-FDF8-13DAF6C6F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9C223E-4951-3489-2B62-C385D5C5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274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94664-E340-2E3A-C6D8-CADBD019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322F39-A19F-B0AE-7CC7-0FF27026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2EB010-F22E-8A07-F136-A63186316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158CB6-3652-6872-C031-6C267FA4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C35C92-3279-6713-0407-D7234487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443FBB-B7EF-262C-D009-47BDD819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59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92FFF-4E3A-043D-8BBB-F8B4F33B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19376E-ECCB-F8BD-DC18-25E72CBFC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1D2C2F-6BEB-A4A9-6126-5817C0B88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348B7F-9201-65D7-6C8A-3E288DE4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6CA1CE-9FAE-3D1B-830D-3E24FB79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F2B7BC-7C39-7DAF-846C-87FFD3E3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08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46D16-7910-1041-021D-F1DDB9F8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2ADEFD-EACC-3332-267F-2DB0B069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C222D8-3F3F-6C75-B103-69CD23B2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881431-0A6A-9D95-0B0A-8DD4EE16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AD4A5D-65B7-31F8-F755-31827435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08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ACAEAE-5A9F-6268-0606-BEF58F529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326106-E51F-2676-4965-226BC6D3D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5A81CD-3DFA-2F3A-00C6-D5377E7F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0754D-F90A-0412-3789-40502CA5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16AEE-4442-DB6B-A673-DF86CE53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53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174C626-73BC-897C-FDAE-C6438637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4A645E-0120-EFBC-51E0-684EB552B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B34414-F5DC-990A-4B0B-93EE40441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A14DF-CA42-4582-A5C1-52AB440B5FEC}" type="datetimeFigureOut">
              <a:rPr lang="pt-BR" smtClean="0"/>
              <a:t>29/03/2025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590632-E500-D5BE-0A56-DDDB5A070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A8553-D7C5-AAA1-B2B0-4FB8D784D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3C4FE-F18D-4FF1-9973-E0A9FF292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45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gblzera/Calcul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0AAAD-DE86-13D3-4345-6E11E712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4475" y="281667"/>
            <a:ext cx="5181850" cy="2770219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200" b="1" dirty="0" err="1"/>
              <a:t>Comparação</a:t>
            </a:r>
            <a:r>
              <a:rPr lang="en-US" sz="5200" b="1" dirty="0"/>
              <a:t> entre Assembly e C/C++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5BD4FB-9AB6-8895-495A-D1EF22E9E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4475" y="3575304"/>
            <a:ext cx="5259319" cy="253924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 err="1"/>
              <a:t>Análise</a:t>
            </a:r>
            <a:r>
              <a:rPr lang="en-US" dirty="0"/>
              <a:t> de </a:t>
            </a:r>
            <a:r>
              <a:rPr lang="en-US" dirty="0" err="1"/>
              <a:t>desempenho</a:t>
            </a:r>
            <a:r>
              <a:rPr lang="en-US" dirty="0"/>
              <a:t>, </a:t>
            </a:r>
            <a:r>
              <a:rPr lang="en-US" dirty="0" err="1"/>
              <a:t>complexidade</a:t>
            </a:r>
            <a:r>
              <a:rPr lang="en-US" dirty="0"/>
              <a:t> e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Implementação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Calculadora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Imagem 4" descr="Desenho de uma mulher&#10;&#10;O conteúdo gerado por IA pode estar incorreto.">
            <a:extLst>
              <a:ext uri="{FF2B5EF4-FFF2-40B4-BE49-F238E27FC236}">
                <a16:creationId xmlns:a16="http://schemas.microsoft.com/office/drawing/2014/main" id="{5CE02590-DC37-BFDF-AF6E-FBDD5D9E9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8060"/>
          <a:stretch/>
        </p:blipFill>
        <p:spPr>
          <a:xfrm>
            <a:off x="1019196" y="2528248"/>
            <a:ext cx="4210030" cy="412882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ECDF740-0391-24C5-0CC9-F5FEC230010F}"/>
              </a:ext>
            </a:extLst>
          </p:cNvPr>
          <p:cNvSpPr txBox="1"/>
          <p:nvPr/>
        </p:nvSpPr>
        <p:spPr>
          <a:xfrm>
            <a:off x="1019196" y="743447"/>
            <a:ext cx="4800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/>
              <a:t>Integrantes:</a:t>
            </a:r>
            <a:br>
              <a:rPr lang="pt-BR" dirty="0"/>
            </a:br>
            <a:r>
              <a:rPr lang="pt-BR" dirty="0"/>
              <a:t>Davi Serra, David Lopes, Gabriel ,Gabriel Henrique ,Gabrielle, Guilherme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B4F8297-9B8C-808E-CF60-F3FF077BABC1}"/>
              </a:ext>
            </a:extLst>
          </p:cNvPr>
          <p:cNvCxnSpPr>
            <a:endCxn id="5" idx="0"/>
          </p:cNvCxnSpPr>
          <p:nvPr/>
        </p:nvCxnSpPr>
        <p:spPr>
          <a:xfrm>
            <a:off x="3124211" y="1929384"/>
            <a:ext cx="0" cy="598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52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212683-8457-EC97-36F5-74FC1E327D1D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1756AC-972E-1FE4-9DEB-2F5A0DDA0B7A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Objetivo: Comparar a implementação de uma calculadora simples em Assembly e C/C++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Critérios analisados: Complexidade do código, tempo de execução e dificuldade de desenvolvimento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Código disponível no GitHub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5" name="Imagem 4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6149D59C-BB3E-729B-7328-248F3A3F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032" y="0"/>
            <a:ext cx="5458968" cy="48038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9C1C29B-639D-C4B6-C292-E8A3B40E469C}"/>
              </a:ext>
            </a:extLst>
          </p:cNvPr>
          <p:cNvSpPr txBox="1"/>
          <p:nvPr/>
        </p:nvSpPr>
        <p:spPr>
          <a:xfrm>
            <a:off x="6345936" y="2670048"/>
            <a:ext cx="12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Assembly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B67C7A-1D08-3209-F831-D649E2F98B1E}"/>
              </a:ext>
            </a:extLst>
          </p:cNvPr>
          <p:cNvSpPr txBox="1"/>
          <p:nvPr/>
        </p:nvSpPr>
        <p:spPr>
          <a:xfrm>
            <a:off x="8119872" y="2670048"/>
            <a:ext cx="83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C/C++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470802-744C-5BC7-35C8-DF04EBC2F391}"/>
              </a:ext>
            </a:extLst>
          </p:cNvPr>
          <p:cNvSpPr txBox="1"/>
          <p:nvPr/>
        </p:nvSpPr>
        <p:spPr>
          <a:xfrm>
            <a:off x="9952995" y="2670048"/>
            <a:ext cx="1071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41155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6F5405-11FD-74D6-9D49-A63E9470DCA6}"/>
              </a:ext>
            </a:extLst>
          </p:cNvPr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é Assembly?</a:t>
            </a:r>
          </a:p>
        </p:txBody>
      </p:sp>
      <p:pic>
        <p:nvPicPr>
          <p:cNvPr id="14" name="Imagem 1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CB08EBF3-CC5B-6B6A-453E-16FF00C07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4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49422F7-8D04-53C6-2499-620738B51D75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1" i="0" u="none" strike="noStrike" cap="none" normalizeH="0" baseline="0">
                <a:ln>
                  <a:noFill/>
                </a:ln>
                <a:effectLst/>
              </a:rPr>
              <a:t>"Assembly: A Linguagem dos Bastidores"</a:t>
            </a:r>
            <a:endParaRPr kumimoji="0" lang="en-US" altLang="pt-BR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0" i="0" u="none" strike="noStrike" cap="none" normalizeH="0" baseline="0">
                <a:ln>
                  <a:noFill/>
                </a:ln>
                <a:effectLst/>
              </a:rPr>
              <a:t>É uma linguagem de baixo nível, praticamente o DNA do seu processador.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0" i="0" u="none" strike="noStrike" cap="none" normalizeH="0" baseline="0">
                <a:ln>
                  <a:noFill/>
                </a:ln>
                <a:effectLst/>
              </a:rPr>
              <a:t>Você interage direto com registradores e memória – ou seja, você manda no hardware sem intermediários.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0" i="0" u="none" strike="noStrike" cap="none" normalizeH="0" baseline="0">
                <a:ln>
                  <a:noFill/>
                </a:ln>
                <a:effectLst/>
              </a:rPr>
              <a:t>Permite um controle total e desempenho de ponta, mas exige atenção cirúrgica (e muita paciência).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0" i="0" u="none" strike="noStrike" cap="none" normalizeH="0" baseline="0">
                <a:ln>
                  <a:noFill/>
                </a:ln>
                <a:effectLst/>
              </a:rPr>
              <a:t>Ideal para otimizações críticas e sistemas embarcados, mas não é para os fracos de coração!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4194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5">
            <a:extLst>
              <a:ext uri="{FF2B5EF4-FFF2-40B4-BE49-F238E27FC236}">
                <a16:creationId xmlns:a16="http://schemas.microsoft.com/office/drawing/2014/main" id="{9F27744B-47AB-4459-8C2F-1D5EE63A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2890833D-080E-0DED-2A2F-423D08081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" r="1" b="1"/>
          <a:stretch/>
        </p:blipFill>
        <p:spPr>
          <a:xfrm>
            <a:off x="1" y="10"/>
            <a:ext cx="6865165" cy="6857990"/>
          </a:xfrm>
          <a:custGeom>
            <a:avLst/>
            <a:gdLst/>
            <a:ahLst/>
            <a:cxnLst/>
            <a:rect l="l" t="t" r="r" b="b"/>
            <a:pathLst>
              <a:path w="6865165" h="6858000">
                <a:moveTo>
                  <a:pt x="0" y="0"/>
                </a:moveTo>
                <a:lnTo>
                  <a:pt x="6865165" y="0"/>
                </a:lnTo>
                <a:lnTo>
                  <a:pt x="6859621" y="22952"/>
                </a:lnTo>
                <a:cubicBezTo>
                  <a:pt x="6623056" y="1069835"/>
                  <a:pt x="6492240" y="2220824"/>
                  <a:pt x="6492240" y="3429001"/>
                </a:cubicBezTo>
                <a:cubicBezTo>
                  <a:pt x="6492240" y="4637179"/>
                  <a:pt x="6623056" y="5788167"/>
                  <a:pt x="6859621" y="6835050"/>
                </a:cubicBezTo>
                <a:lnTo>
                  <a:pt x="686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 useBgFill="1">
        <p:nvSpPr>
          <p:cNvPr id="39" name="Freeform: Shape 27">
            <a:extLst>
              <a:ext uri="{FF2B5EF4-FFF2-40B4-BE49-F238E27FC236}">
                <a16:creationId xmlns:a16="http://schemas.microsoft.com/office/drawing/2014/main" id="{7D266DCC-5218-4AE0-B964-6FC2EA3BD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240" y="0"/>
            <a:ext cx="5699760" cy="6858000"/>
          </a:xfrm>
          <a:custGeom>
            <a:avLst/>
            <a:gdLst>
              <a:gd name="connsiteX0" fmla="*/ 365648 w 5588548"/>
              <a:gd name="connsiteY0" fmla="*/ 0 h 6858000"/>
              <a:gd name="connsiteX1" fmla="*/ 5588548 w 5588548"/>
              <a:gd name="connsiteY1" fmla="*/ 0 h 6858000"/>
              <a:gd name="connsiteX2" fmla="*/ 5588548 w 5588548"/>
              <a:gd name="connsiteY2" fmla="*/ 6858000 h 6858000"/>
              <a:gd name="connsiteX3" fmla="*/ 365648 w 5588548"/>
              <a:gd name="connsiteY3" fmla="*/ 6858000 h 6858000"/>
              <a:gd name="connsiteX4" fmla="*/ 360213 w 5588548"/>
              <a:gd name="connsiteY4" fmla="*/ 6835050 h 6858000"/>
              <a:gd name="connsiteX5" fmla="*/ 0 w 5588548"/>
              <a:gd name="connsiteY5" fmla="*/ 3429001 h 6858000"/>
              <a:gd name="connsiteX6" fmla="*/ 360213 w 5588548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8548" h="6858000">
                <a:moveTo>
                  <a:pt x="365648" y="0"/>
                </a:moveTo>
                <a:lnTo>
                  <a:pt x="5588548" y="0"/>
                </a:lnTo>
                <a:lnTo>
                  <a:pt x="55885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Freeform: Shape 29">
            <a:extLst>
              <a:ext uri="{FF2B5EF4-FFF2-40B4-BE49-F238E27FC236}">
                <a16:creationId xmlns:a16="http://schemas.microsoft.com/office/drawing/2014/main" id="{973DE4F1-1583-4AE3-9696-9659D27C5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384" y="0"/>
            <a:ext cx="5690616" cy="6858000"/>
          </a:xfrm>
          <a:custGeom>
            <a:avLst/>
            <a:gdLst>
              <a:gd name="connsiteX0" fmla="*/ 372925 w 5690616"/>
              <a:gd name="connsiteY0" fmla="*/ 0 h 6858000"/>
              <a:gd name="connsiteX1" fmla="*/ 5690616 w 5690616"/>
              <a:gd name="connsiteY1" fmla="*/ 0 h 6858000"/>
              <a:gd name="connsiteX2" fmla="*/ 5690616 w 5690616"/>
              <a:gd name="connsiteY2" fmla="*/ 6858000 h 6858000"/>
              <a:gd name="connsiteX3" fmla="*/ 372925 w 5690616"/>
              <a:gd name="connsiteY3" fmla="*/ 6858000 h 6858000"/>
              <a:gd name="connsiteX4" fmla="*/ 367381 w 5690616"/>
              <a:gd name="connsiteY4" fmla="*/ 6835050 h 6858000"/>
              <a:gd name="connsiteX5" fmla="*/ 0 w 5690616"/>
              <a:gd name="connsiteY5" fmla="*/ 3429001 h 6858000"/>
              <a:gd name="connsiteX6" fmla="*/ 367381 w 5690616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0616" h="6858000">
                <a:moveTo>
                  <a:pt x="372925" y="0"/>
                </a:moveTo>
                <a:lnTo>
                  <a:pt x="5690616" y="0"/>
                </a:lnTo>
                <a:lnTo>
                  <a:pt x="5690616" y="6858000"/>
                </a:lnTo>
                <a:lnTo>
                  <a:pt x="372925" y="6858000"/>
                </a:lnTo>
                <a:lnTo>
                  <a:pt x="367381" y="6835050"/>
                </a:lnTo>
                <a:cubicBezTo>
                  <a:pt x="130816" y="5788167"/>
                  <a:pt x="0" y="4637179"/>
                  <a:pt x="0" y="3429001"/>
                </a:cubicBezTo>
                <a:cubicBezTo>
                  <a:pt x="0" y="2220824"/>
                  <a:pt x="130816" y="1069835"/>
                  <a:pt x="367381" y="22952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2DF0D6-F52B-A950-C0CB-4FA59EF0DBE3}"/>
              </a:ext>
            </a:extLst>
          </p:cNvPr>
          <p:cNvSpPr txBox="1"/>
          <p:nvPr/>
        </p:nvSpPr>
        <p:spPr>
          <a:xfrm>
            <a:off x="7255564" y="914400"/>
            <a:ext cx="4485861" cy="11065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O que é C/C++?</a:t>
            </a: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2239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33">
            <a:extLst>
              <a:ext uri="{FF2B5EF4-FFF2-40B4-BE49-F238E27FC236}">
                <a16:creationId xmlns:a16="http://schemas.microsoft.com/office/drawing/2014/main" id="{FD3C8959-A2A1-469E-8619-82F077E3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4495" y="218239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85E095-9F33-02ED-13C6-DF6A3A44D82C}"/>
              </a:ext>
            </a:extLst>
          </p:cNvPr>
          <p:cNvSpPr txBox="1"/>
          <p:nvPr/>
        </p:nvSpPr>
        <p:spPr>
          <a:xfrm>
            <a:off x="7255563" y="2440100"/>
            <a:ext cx="4485861" cy="383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b="1" i="0" u="none" strike="noStrike" cap="none" normalizeH="0" baseline="0">
                <a:ln>
                  <a:noFill/>
                </a:ln>
                <a:effectLst/>
              </a:rPr>
              <a:t>"C/C++: O Equilíbrio Perfeito"</a:t>
            </a:r>
            <a:endParaRPr kumimoji="0" lang="en-US" altLang="pt-BR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b="0" i="0" u="none" strike="noStrike" cap="none" normalizeH="0" baseline="0">
                <a:ln>
                  <a:noFill/>
                </a:ln>
                <a:effectLst/>
              </a:rPr>
              <a:t>Linguagens de médio/alto nível que oferecem abstração sem te deixar na mão.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b="0" i="0" u="none" strike="noStrike" cap="none" normalizeH="0" baseline="0">
                <a:ln>
                  <a:noFill/>
                </a:ln>
                <a:effectLst/>
              </a:rPr>
              <a:t>Facilita a criação de sistemas robustos com uma sintaxe mais amigável e menos enrolação.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b="0" i="0" u="none" strike="noStrike" cap="none" normalizeH="0" baseline="0">
                <a:ln>
                  <a:noFill/>
                </a:ln>
                <a:effectLst/>
              </a:rPr>
              <a:t>Possui um ecossistema vasto e repleto de bibliotecas, evitando que você tenha que reinventar a roda.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b="0" i="0" u="none" strike="noStrike" cap="none" normalizeH="0" baseline="0">
                <a:ln>
                  <a:noFill/>
                </a:ln>
                <a:effectLst/>
              </a:rPr>
              <a:t>Combina desempenho decente com produtividade, perfeito para projetos que exigem potência sem o perrengue do Assembly.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0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482DDE-EEC2-27E1-8913-A1056D36B905}"/>
              </a:ext>
            </a:extLst>
          </p:cNvPr>
          <p:cNvSpPr txBox="1"/>
          <p:nvPr/>
        </p:nvSpPr>
        <p:spPr>
          <a:xfrm>
            <a:off x="7320466" y="609600"/>
            <a:ext cx="414001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 err="1">
                <a:latin typeface="+mj-lt"/>
                <a:ea typeface="+mj-ea"/>
                <a:cs typeface="+mj-cs"/>
              </a:rPr>
              <a:t>Implementação</a:t>
            </a:r>
            <a:r>
              <a:rPr lang="en-US" sz="2800" b="1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latin typeface="+mj-lt"/>
                <a:ea typeface="+mj-ea"/>
                <a:cs typeface="+mj-cs"/>
              </a:rPr>
              <a:t>em</a:t>
            </a:r>
            <a:r>
              <a:rPr lang="en-US" sz="2800" b="1" dirty="0">
                <a:latin typeface="+mj-lt"/>
                <a:ea typeface="+mj-ea"/>
                <a:cs typeface="+mj-cs"/>
              </a:rPr>
              <a:t> Assembly: O Lado Bruto da </a:t>
            </a:r>
            <a:r>
              <a:rPr lang="en-US" sz="2800" b="1" dirty="0" err="1">
                <a:latin typeface="+mj-lt"/>
                <a:ea typeface="+mj-ea"/>
                <a:cs typeface="+mj-cs"/>
              </a:rPr>
              <a:t>Força</a:t>
            </a:r>
            <a:endParaRPr lang="en-US" sz="28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372A477C-E50D-9779-C2C2-8A834804B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46" b="1"/>
          <a:stretch/>
        </p:blipFill>
        <p:spPr>
          <a:xfrm>
            <a:off x="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E026046-D527-C24C-6FD5-5634B2F3DD95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>
                <a:ln>
                  <a:noFill/>
                </a:ln>
                <a:effectLst/>
              </a:rPr>
              <a:t>Mão na Massa com o Hardware:</a:t>
            </a: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Código que fala diretamente com o processador: cada instrução conta.</a:t>
            </a:r>
          </a:p>
          <a:p>
            <a:pPr marL="22860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>
                <a:ln>
                  <a:noFill/>
                </a:ln>
                <a:effectLst/>
              </a:rPr>
              <a:t>Desafios e Detalhes:</a:t>
            </a: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Erros podem custar caro – exige disciplina de cirurgião!</a:t>
            </a: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Ótimo para quem precisa de performance máxima e controle total.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1284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51F3819-4351-4730-8E02-40BF286E0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AE5130-F148-4C5A-A6CB-48165DC76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5E1F62C-2FB7-656F-B0FC-9FAF78D1F177}"/>
              </a:ext>
            </a:extLst>
          </p:cNvPr>
          <p:cNvSpPr txBox="1"/>
          <p:nvPr/>
        </p:nvSpPr>
        <p:spPr>
          <a:xfrm>
            <a:off x="4653887" y="609600"/>
            <a:ext cx="6564574" cy="1330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Implementação em C/C++: A Arte da Abstração</a:t>
            </a:r>
          </a:p>
        </p:txBody>
      </p:sp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48293AC8-7DF2-FEFD-4F60-6B6193B78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0" b="-3"/>
          <a:stretch/>
        </p:blipFill>
        <p:spPr>
          <a:xfrm>
            <a:off x="-8" y="3428992"/>
            <a:ext cx="4038600" cy="3429015"/>
          </a:xfrm>
          <a:custGeom>
            <a:avLst/>
            <a:gdLst/>
            <a:ahLst/>
            <a:cxnLst/>
            <a:rect l="l" t="t" r="r" b="b"/>
            <a:pathLst>
              <a:path w="4038600" h="3428999">
                <a:moveTo>
                  <a:pt x="0" y="0"/>
                </a:moveTo>
                <a:lnTo>
                  <a:pt x="3832764" y="0"/>
                </a:lnTo>
                <a:lnTo>
                  <a:pt x="3833410" y="4411"/>
                </a:lnTo>
                <a:cubicBezTo>
                  <a:pt x="3834310" y="12542"/>
                  <a:pt x="3834933" y="20617"/>
                  <a:pt x="3835321" y="28434"/>
                </a:cubicBezTo>
                <a:cubicBezTo>
                  <a:pt x="3843020" y="30350"/>
                  <a:pt x="3840588" y="61692"/>
                  <a:pt x="3852266" y="50998"/>
                </a:cubicBezTo>
                <a:cubicBezTo>
                  <a:pt x="3853153" y="61314"/>
                  <a:pt x="3849223" y="70391"/>
                  <a:pt x="3856614" y="62023"/>
                </a:cubicBezTo>
                <a:cubicBezTo>
                  <a:pt x="3857136" y="65272"/>
                  <a:pt x="3858208" y="66796"/>
                  <a:pt x="3859557" y="67517"/>
                </a:cubicBezTo>
                <a:lnTo>
                  <a:pt x="3860141" y="67604"/>
                </a:lnTo>
                <a:lnTo>
                  <a:pt x="3861913" y="90672"/>
                </a:lnTo>
                <a:lnTo>
                  <a:pt x="3863084" y="93141"/>
                </a:lnTo>
                <a:cubicBezTo>
                  <a:pt x="3863070" y="98407"/>
                  <a:pt x="3863057" y="103672"/>
                  <a:pt x="3863043" y="108938"/>
                </a:cubicBezTo>
                <a:lnTo>
                  <a:pt x="3863660" y="116693"/>
                </a:lnTo>
                <a:lnTo>
                  <a:pt x="3862518" y="119721"/>
                </a:lnTo>
                <a:cubicBezTo>
                  <a:pt x="3862017" y="122528"/>
                  <a:pt x="3862239" y="125949"/>
                  <a:pt x="3864097" y="130743"/>
                </a:cubicBezTo>
                <a:lnTo>
                  <a:pt x="3864775" y="131693"/>
                </a:lnTo>
                <a:lnTo>
                  <a:pt x="3864231" y="141960"/>
                </a:lnTo>
                <a:cubicBezTo>
                  <a:pt x="3863734" y="145469"/>
                  <a:pt x="3862886" y="148837"/>
                  <a:pt x="3861543" y="151981"/>
                </a:cubicBezTo>
                <a:cubicBezTo>
                  <a:pt x="3876816" y="176028"/>
                  <a:pt x="3873891" y="209754"/>
                  <a:pt x="3881956" y="241275"/>
                </a:cubicBezTo>
                <a:cubicBezTo>
                  <a:pt x="3880805" y="282291"/>
                  <a:pt x="3871108" y="290637"/>
                  <a:pt x="3883245" y="317540"/>
                </a:cubicBezTo>
                <a:cubicBezTo>
                  <a:pt x="3887431" y="330343"/>
                  <a:pt x="3884915" y="349601"/>
                  <a:pt x="3894824" y="382132"/>
                </a:cubicBezTo>
                <a:cubicBezTo>
                  <a:pt x="3902184" y="412768"/>
                  <a:pt x="3905028" y="440981"/>
                  <a:pt x="3912029" y="468465"/>
                </a:cubicBezTo>
                <a:cubicBezTo>
                  <a:pt x="3918870" y="501219"/>
                  <a:pt x="3919171" y="493504"/>
                  <a:pt x="3923563" y="512872"/>
                </a:cubicBezTo>
                <a:cubicBezTo>
                  <a:pt x="3925161" y="516259"/>
                  <a:pt x="3933257" y="548851"/>
                  <a:pt x="3935302" y="551780"/>
                </a:cubicBezTo>
                <a:cubicBezTo>
                  <a:pt x="3940193" y="569420"/>
                  <a:pt x="3948108" y="591435"/>
                  <a:pt x="3952908" y="618713"/>
                </a:cubicBezTo>
                <a:cubicBezTo>
                  <a:pt x="3949597" y="640336"/>
                  <a:pt x="3968857" y="662091"/>
                  <a:pt x="3964097" y="689135"/>
                </a:cubicBezTo>
                <a:cubicBezTo>
                  <a:pt x="3963409" y="698730"/>
                  <a:pt x="3967777" y="726290"/>
                  <a:pt x="3972561" y="730194"/>
                </a:cubicBezTo>
                <a:cubicBezTo>
                  <a:pt x="3974287" y="735671"/>
                  <a:pt x="3973869" y="742863"/>
                  <a:pt x="3978553" y="744105"/>
                </a:cubicBezTo>
                <a:cubicBezTo>
                  <a:pt x="3984369" y="746793"/>
                  <a:pt x="3979392" y="769550"/>
                  <a:pt x="3985056" y="764665"/>
                </a:cubicBezTo>
                <a:cubicBezTo>
                  <a:pt x="3981721" y="780759"/>
                  <a:pt x="3994221" y="788526"/>
                  <a:pt x="3998681" y="799644"/>
                </a:cubicBezTo>
                <a:cubicBezTo>
                  <a:pt x="3996807" y="806167"/>
                  <a:pt x="3999133" y="812044"/>
                  <a:pt x="4002586" y="819512"/>
                </a:cubicBezTo>
                <a:lnTo>
                  <a:pt x="4007152" y="829775"/>
                </a:lnTo>
                <a:cubicBezTo>
                  <a:pt x="4007290" y="831346"/>
                  <a:pt x="4007429" y="832918"/>
                  <a:pt x="4007568" y="834489"/>
                </a:cubicBezTo>
                <a:cubicBezTo>
                  <a:pt x="4008582" y="842878"/>
                  <a:pt x="4012501" y="870527"/>
                  <a:pt x="4013238" y="880111"/>
                </a:cubicBezTo>
                <a:lnTo>
                  <a:pt x="4011990" y="891990"/>
                </a:lnTo>
                <a:cubicBezTo>
                  <a:pt x="4012878" y="895711"/>
                  <a:pt x="4017741" y="899277"/>
                  <a:pt x="4018561" y="902435"/>
                </a:cubicBezTo>
                <a:lnTo>
                  <a:pt x="4016914" y="910937"/>
                </a:lnTo>
                <a:cubicBezTo>
                  <a:pt x="4021666" y="910045"/>
                  <a:pt x="4017754" y="920062"/>
                  <a:pt x="4017630" y="927631"/>
                </a:cubicBezTo>
                <a:cubicBezTo>
                  <a:pt x="4017765" y="943134"/>
                  <a:pt x="4017899" y="958638"/>
                  <a:pt x="4018033" y="974141"/>
                </a:cubicBezTo>
                <a:lnTo>
                  <a:pt x="4020844" y="1002853"/>
                </a:lnTo>
                <a:lnTo>
                  <a:pt x="4019159" y="1011649"/>
                </a:lnTo>
                <a:cubicBezTo>
                  <a:pt x="4018755" y="1030805"/>
                  <a:pt x="4025427" y="1051984"/>
                  <a:pt x="4019983" y="1065586"/>
                </a:cubicBezTo>
                <a:cubicBezTo>
                  <a:pt x="4019342" y="1071115"/>
                  <a:pt x="4019489" y="1076118"/>
                  <a:pt x="4020124" y="1080768"/>
                </a:cubicBezTo>
                <a:lnTo>
                  <a:pt x="4023046" y="1093182"/>
                </a:lnTo>
                <a:lnTo>
                  <a:pt x="4030993" y="1117768"/>
                </a:lnTo>
                <a:cubicBezTo>
                  <a:pt x="4017255" y="1119010"/>
                  <a:pt x="4036257" y="1175819"/>
                  <a:pt x="4024084" y="1169607"/>
                </a:cubicBezTo>
                <a:cubicBezTo>
                  <a:pt x="4026558" y="1192318"/>
                  <a:pt x="4002019" y="1213340"/>
                  <a:pt x="4015242" y="1235237"/>
                </a:cubicBezTo>
                <a:cubicBezTo>
                  <a:pt x="4014162" y="1269305"/>
                  <a:pt x="4018570" y="1317827"/>
                  <a:pt x="4017602" y="1350990"/>
                </a:cubicBezTo>
                <a:cubicBezTo>
                  <a:pt x="4023169" y="1344874"/>
                  <a:pt x="4021893" y="1374627"/>
                  <a:pt x="4021736" y="1378298"/>
                </a:cubicBezTo>
                <a:cubicBezTo>
                  <a:pt x="4018952" y="1400570"/>
                  <a:pt x="4019832" y="1419813"/>
                  <a:pt x="4016278" y="1458310"/>
                </a:cubicBezTo>
                <a:cubicBezTo>
                  <a:pt x="4018014" y="1492373"/>
                  <a:pt x="4008830" y="1521984"/>
                  <a:pt x="4018868" y="1553366"/>
                </a:cubicBezTo>
                <a:cubicBezTo>
                  <a:pt x="4016990" y="1555494"/>
                  <a:pt x="4015540" y="1558122"/>
                  <a:pt x="4014402" y="1561090"/>
                </a:cubicBezTo>
                <a:lnTo>
                  <a:pt x="4011936" y="1570307"/>
                </a:lnTo>
                <a:lnTo>
                  <a:pt x="4012405" y="1571592"/>
                </a:lnTo>
                <a:cubicBezTo>
                  <a:pt x="4013272" y="1577147"/>
                  <a:pt x="4012836" y="1580457"/>
                  <a:pt x="4011825" y="1582767"/>
                </a:cubicBezTo>
                <a:lnTo>
                  <a:pt x="4010160" y="1584906"/>
                </a:lnTo>
                <a:lnTo>
                  <a:pt x="4009282" y="1592480"/>
                </a:lnTo>
                <a:lnTo>
                  <a:pt x="4004224" y="1632608"/>
                </a:lnTo>
                <a:lnTo>
                  <a:pt x="4004766" y="1633033"/>
                </a:lnTo>
                <a:cubicBezTo>
                  <a:pt x="4005917" y="1634501"/>
                  <a:pt x="4006652" y="1636551"/>
                  <a:pt x="4006536" y="1639879"/>
                </a:cubicBezTo>
                <a:cubicBezTo>
                  <a:pt x="4015184" y="1636475"/>
                  <a:pt x="4009709" y="1642588"/>
                  <a:pt x="4008603" y="1652696"/>
                </a:cubicBezTo>
                <a:cubicBezTo>
                  <a:pt x="4021787" y="1649666"/>
                  <a:pt x="4013526" y="1677353"/>
                  <a:pt x="4020520" y="1683689"/>
                </a:cubicBezTo>
                <a:cubicBezTo>
                  <a:pt x="4019410" y="1691182"/>
                  <a:pt x="4018476" y="1699055"/>
                  <a:pt x="4017793" y="1707144"/>
                </a:cubicBezTo>
                <a:cubicBezTo>
                  <a:pt x="4017716" y="1708742"/>
                  <a:pt x="4017637" y="1710339"/>
                  <a:pt x="4017559" y="1711937"/>
                </a:cubicBezTo>
                <a:lnTo>
                  <a:pt x="4017686" y="1712065"/>
                </a:lnTo>
                <a:cubicBezTo>
                  <a:pt x="4017911" y="1713173"/>
                  <a:pt x="4017938" y="1714774"/>
                  <a:pt x="4017696" y="1717183"/>
                </a:cubicBezTo>
                <a:lnTo>
                  <a:pt x="4017133" y="1720681"/>
                </a:lnTo>
                <a:lnTo>
                  <a:pt x="4016678" y="1729981"/>
                </a:lnTo>
                <a:lnTo>
                  <a:pt x="4017384" y="1733388"/>
                </a:lnTo>
                <a:lnTo>
                  <a:pt x="4018907" y="1735034"/>
                </a:lnTo>
                <a:cubicBezTo>
                  <a:pt x="4018834" y="1735303"/>
                  <a:pt x="4018762" y="1735573"/>
                  <a:pt x="4018689" y="1735842"/>
                </a:cubicBezTo>
                <a:cubicBezTo>
                  <a:pt x="4015637" y="1741502"/>
                  <a:pt x="4011570" y="1742214"/>
                  <a:pt x="4022227" y="1754258"/>
                </a:cubicBezTo>
                <a:cubicBezTo>
                  <a:pt x="4017088" y="1767842"/>
                  <a:pt x="4023675" y="1773031"/>
                  <a:pt x="4025215" y="1794468"/>
                </a:cubicBezTo>
                <a:cubicBezTo>
                  <a:pt x="4020602" y="1801685"/>
                  <a:pt x="4021846" y="1809129"/>
                  <a:pt x="4024929" y="1817026"/>
                </a:cubicBezTo>
                <a:cubicBezTo>
                  <a:pt x="4022135" y="1836468"/>
                  <a:pt x="4026097" y="1856359"/>
                  <a:pt x="4026330" y="1879330"/>
                </a:cubicBezTo>
                <a:lnTo>
                  <a:pt x="4036998" y="1941432"/>
                </a:lnTo>
                <a:lnTo>
                  <a:pt x="4036084" y="2000732"/>
                </a:lnTo>
                <a:cubicBezTo>
                  <a:pt x="4034263" y="2008113"/>
                  <a:pt x="4032229" y="2015157"/>
                  <a:pt x="4030076" y="2021755"/>
                </a:cubicBezTo>
                <a:cubicBezTo>
                  <a:pt x="4035967" y="2031320"/>
                  <a:pt x="4023973" y="2053600"/>
                  <a:pt x="4037221" y="2057342"/>
                </a:cubicBezTo>
                <a:cubicBezTo>
                  <a:pt x="4034697" y="2066435"/>
                  <a:pt x="4028501" y="2069516"/>
                  <a:pt x="4037394" y="2070619"/>
                </a:cubicBezTo>
                <a:cubicBezTo>
                  <a:pt x="4036804" y="2073734"/>
                  <a:pt x="4037226" y="2076065"/>
                  <a:pt x="4038135" y="2078045"/>
                </a:cubicBezTo>
                <a:lnTo>
                  <a:pt x="4038600" y="2078724"/>
                </a:lnTo>
                <a:lnTo>
                  <a:pt x="4032779" y="2098845"/>
                </a:lnTo>
                <a:lnTo>
                  <a:pt x="4032983" y="2102024"/>
                </a:lnTo>
                <a:lnTo>
                  <a:pt x="4027939" y="2114492"/>
                </a:lnTo>
                <a:lnTo>
                  <a:pt x="4018466" y="2141885"/>
                </a:lnTo>
                <a:cubicBezTo>
                  <a:pt x="4016935" y="2144144"/>
                  <a:pt x="4008999" y="2172239"/>
                  <a:pt x="4006867" y="2173326"/>
                </a:cubicBezTo>
                <a:cubicBezTo>
                  <a:pt x="4012131" y="2208338"/>
                  <a:pt x="3995887" y="2179358"/>
                  <a:pt x="3992697" y="2212754"/>
                </a:cubicBezTo>
                <a:cubicBezTo>
                  <a:pt x="4005768" y="2234675"/>
                  <a:pt x="3987982" y="2231911"/>
                  <a:pt x="3984358" y="2281700"/>
                </a:cubicBezTo>
                <a:cubicBezTo>
                  <a:pt x="3976909" y="2307292"/>
                  <a:pt x="3981397" y="2321058"/>
                  <a:pt x="3966554" y="2358247"/>
                </a:cubicBezTo>
                <a:cubicBezTo>
                  <a:pt x="3960999" y="2394590"/>
                  <a:pt x="3953833" y="2470676"/>
                  <a:pt x="3951025" y="2499761"/>
                </a:cubicBezTo>
                <a:cubicBezTo>
                  <a:pt x="3960739" y="2527319"/>
                  <a:pt x="3950548" y="2509832"/>
                  <a:pt x="3949702" y="2532758"/>
                </a:cubicBezTo>
                <a:cubicBezTo>
                  <a:pt x="3938760" y="2520705"/>
                  <a:pt x="3952389" y="2562520"/>
                  <a:pt x="3938861" y="2556795"/>
                </a:cubicBezTo>
                <a:cubicBezTo>
                  <a:pt x="3939134" y="2561148"/>
                  <a:pt x="3939827" y="2565547"/>
                  <a:pt x="3940623" y="2570003"/>
                </a:cubicBezTo>
                <a:cubicBezTo>
                  <a:pt x="3940759" y="2570781"/>
                  <a:pt x="3940897" y="2571558"/>
                  <a:pt x="3941033" y="2572336"/>
                </a:cubicBezTo>
                <a:lnTo>
                  <a:pt x="3940366" y="2580478"/>
                </a:lnTo>
                <a:lnTo>
                  <a:pt x="3943063" y="2584265"/>
                </a:lnTo>
                <a:lnTo>
                  <a:pt x="3944125" y="2597587"/>
                </a:lnTo>
                <a:cubicBezTo>
                  <a:pt x="3944077" y="2602348"/>
                  <a:pt x="3943504" y="2607198"/>
                  <a:pt x="3942089" y="2612155"/>
                </a:cubicBezTo>
                <a:cubicBezTo>
                  <a:pt x="3932438" y="2625816"/>
                  <a:pt x="3941792" y="2663179"/>
                  <a:pt x="3929196" y="2679622"/>
                </a:cubicBezTo>
                <a:cubicBezTo>
                  <a:pt x="3925571" y="2686502"/>
                  <a:pt x="3920517" y="2712894"/>
                  <a:pt x="3923315" y="2720986"/>
                </a:cubicBezTo>
                <a:cubicBezTo>
                  <a:pt x="3923036" y="2727128"/>
                  <a:pt x="3920401" y="2732389"/>
                  <a:pt x="3923961" y="2738269"/>
                </a:cubicBezTo>
                <a:cubicBezTo>
                  <a:pt x="3928018" y="2746479"/>
                  <a:pt x="3916599" y="2759296"/>
                  <a:pt x="3922927" y="2761348"/>
                </a:cubicBezTo>
                <a:cubicBezTo>
                  <a:pt x="3919813" y="2786694"/>
                  <a:pt x="3907933" y="2868089"/>
                  <a:pt x="3905273" y="2890343"/>
                </a:cubicBezTo>
                <a:cubicBezTo>
                  <a:pt x="3905945" y="2891698"/>
                  <a:pt x="3906516" y="2893225"/>
                  <a:pt x="3906968" y="2894872"/>
                </a:cubicBezTo>
                <a:cubicBezTo>
                  <a:pt x="3909594" y="2904456"/>
                  <a:pt x="3907729" y="2916058"/>
                  <a:pt x="3902804" y="2920783"/>
                </a:cubicBezTo>
                <a:cubicBezTo>
                  <a:pt x="3885416" y="2946524"/>
                  <a:pt x="3880691" y="2976695"/>
                  <a:pt x="3873409" y="3003309"/>
                </a:cubicBezTo>
                <a:cubicBezTo>
                  <a:pt x="3866483" y="3034202"/>
                  <a:pt x="3883685" y="3021162"/>
                  <a:pt x="3865677" y="3054172"/>
                </a:cubicBezTo>
                <a:cubicBezTo>
                  <a:pt x="3869656" y="3061216"/>
                  <a:pt x="3869021" y="3066386"/>
                  <a:pt x="3865322" y="3073552"/>
                </a:cubicBezTo>
                <a:cubicBezTo>
                  <a:pt x="3862309" y="3088769"/>
                  <a:pt x="3874353" y="3094511"/>
                  <a:pt x="3864576" y="3105939"/>
                </a:cubicBezTo>
                <a:cubicBezTo>
                  <a:pt x="3871414" y="3106866"/>
                  <a:pt x="3862070" y="3136685"/>
                  <a:pt x="3869897" y="3133416"/>
                </a:cubicBezTo>
                <a:cubicBezTo>
                  <a:pt x="3873987" y="3146871"/>
                  <a:pt x="3863598" y="3146263"/>
                  <a:pt x="3866944" y="3159200"/>
                </a:cubicBezTo>
                <a:cubicBezTo>
                  <a:pt x="3866209" y="3171160"/>
                  <a:pt x="3861238" y="3148758"/>
                  <a:pt x="3858655" y="3160960"/>
                </a:cubicBezTo>
                <a:cubicBezTo>
                  <a:pt x="3856672" y="3176428"/>
                  <a:pt x="3845007" y="3169580"/>
                  <a:pt x="3857964" y="3189916"/>
                </a:cubicBezTo>
                <a:cubicBezTo>
                  <a:pt x="3851730" y="3203678"/>
                  <a:pt x="3857918" y="3210651"/>
                  <a:pt x="3857749" y="3234304"/>
                </a:cubicBezTo>
                <a:lnTo>
                  <a:pt x="3855596" y="3240571"/>
                </a:lnTo>
                <a:lnTo>
                  <a:pt x="3861634" y="3248569"/>
                </a:lnTo>
                <a:cubicBezTo>
                  <a:pt x="3864052" y="3253014"/>
                  <a:pt x="3865516" y="3258342"/>
                  <a:pt x="3864663" y="3265444"/>
                </a:cubicBezTo>
                <a:cubicBezTo>
                  <a:pt x="3848300" y="3307894"/>
                  <a:pt x="3875588" y="3268090"/>
                  <a:pt x="3865146" y="3338829"/>
                </a:cubicBezTo>
                <a:cubicBezTo>
                  <a:pt x="3862730" y="3342195"/>
                  <a:pt x="3864130" y="3351680"/>
                  <a:pt x="3867052" y="3351725"/>
                </a:cubicBezTo>
                <a:cubicBezTo>
                  <a:pt x="3865794" y="3356006"/>
                  <a:pt x="3859439" y="3365106"/>
                  <a:pt x="3863912" y="3367707"/>
                </a:cubicBezTo>
                <a:cubicBezTo>
                  <a:pt x="3863241" y="3379301"/>
                  <a:pt x="3861774" y="3390600"/>
                  <a:pt x="3859561" y="3401335"/>
                </a:cubicBezTo>
                <a:lnTo>
                  <a:pt x="3853212" y="3423129"/>
                </a:lnTo>
                <a:lnTo>
                  <a:pt x="3856572" y="3428759"/>
                </a:lnTo>
                <a:lnTo>
                  <a:pt x="3856601" y="3428999"/>
                </a:lnTo>
                <a:lnTo>
                  <a:pt x="0" y="3428999"/>
                </a:lnTo>
                <a:close/>
              </a:path>
            </a:pathLst>
          </a:cu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93AC3EFD-67C3-B19A-6315-DA6B0BD37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5" r="1" b="1"/>
          <a:stretch/>
        </p:blipFill>
        <p:spPr>
          <a:xfrm>
            <a:off x="9" y="-7"/>
            <a:ext cx="3832765" cy="3428999"/>
          </a:xfrm>
          <a:custGeom>
            <a:avLst/>
            <a:gdLst/>
            <a:ahLst/>
            <a:cxnLst/>
            <a:rect l="l" t="t" r="r" b="b"/>
            <a:pathLst>
              <a:path w="3832765" h="3429000">
                <a:moveTo>
                  <a:pt x="0" y="0"/>
                </a:moveTo>
                <a:lnTo>
                  <a:pt x="3647227" y="0"/>
                </a:lnTo>
                <a:lnTo>
                  <a:pt x="3639550" y="38855"/>
                </a:lnTo>
                <a:cubicBezTo>
                  <a:pt x="3636650" y="54773"/>
                  <a:pt x="3634345" y="68219"/>
                  <a:pt x="3632595" y="77266"/>
                </a:cubicBezTo>
                <a:cubicBezTo>
                  <a:pt x="3626536" y="79781"/>
                  <a:pt x="3626501" y="84794"/>
                  <a:pt x="3629067" y="94172"/>
                </a:cubicBezTo>
                <a:cubicBezTo>
                  <a:pt x="3627578" y="163765"/>
                  <a:pt x="3557526" y="242917"/>
                  <a:pt x="3584106" y="259179"/>
                </a:cubicBezTo>
                <a:cubicBezTo>
                  <a:pt x="3583700" y="275569"/>
                  <a:pt x="3606846" y="331307"/>
                  <a:pt x="3599938" y="369872"/>
                </a:cubicBezTo>
                <a:cubicBezTo>
                  <a:pt x="3585388" y="383902"/>
                  <a:pt x="3596928" y="466732"/>
                  <a:pt x="3595032" y="485807"/>
                </a:cubicBezTo>
                <a:cubicBezTo>
                  <a:pt x="3585943" y="488250"/>
                  <a:pt x="3592517" y="521115"/>
                  <a:pt x="3579338" y="516547"/>
                </a:cubicBezTo>
                <a:cubicBezTo>
                  <a:pt x="3573622" y="519766"/>
                  <a:pt x="3573367" y="529229"/>
                  <a:pt x="3578241" y="534293"/>
                </a:cubicBezTo>
                <a:cubicBezTo>
                  <a:pt x="3576722" y="545474"/>
                  <a:pt x="3569890" y="551581"/>
                  <a:pt x="3577790" y="563888"/>
                </a:cubicBezTo>
                <a:cubicBezTo>
                  <a:pt x="3576008" y="579306"/>
                  <a:pt x="3555937" y="592508"/>
                  <a:pt x="3568362" y="606614"/>
                </a:cubicBezTo>
                <a:cubicBezTo>
                  <a:pt x="3548060" y="617296"/>
                  <a:pt x="3566748" y="665721"/>
                  <a:pt x="3562360" y="696544"/>
                </a:cubicBezTo>
                <a:cubicBezTo>
                  <a:pt x="3540870" y="749643"/>
                  <a:pt x="3563552" y="814684"/>
                  <a:pt x="3525923" y="839698"/>
                </a:cubicBezTo>
                <a:cubicBezTo>
                  <a:pt x="3535181" y="895191"/>
                  <a:pt x="3521523" y="937628"/>
                  <a:pt x="3518879" y="980382"/>
                </a:cubicBezTo>
                <a:cubicBezTo>
                  <a:pt x="3513995" y="999599"/>
                  <a:pt x="3527321" y="1012505"/>
                  <a:pt x="3515302" y="1028426"/>
                </a:cubicBezTo>
                <a:cubicBezTo>
                  <a:pt x="3518279" y="1066840"/>
                  <a:pt x="3496325" y="1148092"/>
                  <a:pt x="3536738" y="1210870"/>
                </a:cubicBezTo>
                <a:lnTo>
                  <a:pt x="3591526" y="1380154"/>
                </a:lnTo>
                <a:cubicBezTo>
                  <a:pt x="3610626" y="1430030"/>
                  <a:pt x="3618402" y="1446676"/>
                  <a:pt x="3627364" y="1475232"/>
                </a:cubicBezTo>
                <a:cubicBezTo>
                  <a:pt x="3630584" y="1500131"/>
                  <a:pt x="3621205" y="1517302"/>
                  <a:pt x="3629315" y="1551492"/>
                </a:cubicBezTo>
                <a:cubicBezTo>
                  <a:pt x="3627771" y="1569255"/>
                  <a:pt x="3642142" y="1604305"/>
                  <a:pt x="3642065" y="1616703"/>
                </a:cubicBezTo>
                <a:cubicBezTo>
                  <a:pt x="3644190" y="1615867"/>
                  <a:pt x="3646228" y="1622618"/>
                  <a:pt x="3644837" y="1625880"/>
                </a:cubicBezTo>
                <a:cubicBezTo>
                  <a:pt x="3644873" y="1682450"/>
                  <a:pt x="3660396" y="1644242"/>
                  <a:pt x="3653089" y="1681195"/>
                </a:cubicBezTo>
                <a:cubicBezTo>
                  <a:pt x="3653672" y="1703685"/>
                  <a:pt x="3678100" y="1693642"/>
                  <a:pt x="3669268" y="1720463"/>
                </a:cubicBezTo>
                <a:cubicBezTo>
                  <a:pt x="3672709" y="1747068"/>
                  <a:pt x="3683894" y="1760489"/>
                  <a:pt x="3680555" y="1787683"/>
                </a:cubicBezTo>
                <a:cubicBezTo>
                  <a:pt x="3683815" y="1812577"/>
                  <a:pt x="3690283" y="1832624"/>
                  <a:pt x="3690144" y="1854892"/>
                </a:cubicBezTo>
                <a:cubicBezTo>
                  <a:pt x="3694176" y="1862246"/>
                  <a:pt x="3696364" y="1869845"/>
                  <a:pt x="3692847" y="1879545"/>
                </a:cubicBezTo>
                <a:lnTo>
                  <a:pt x="3705899" y="1950159"/>
                </a:lnTo>
                <a:cubicBezTo>
                  <a:pt x="3705811" y="1963349"/>
                  <a:pt x="3696947" y="1944883"/>
                  <a:pt x="3698529" y="1956744"/>
                </a:cubicBezTo>
                <a:cubicBezTo>
                  <a:pt x="3704089" y="1967128"/>
                  <a:pt x="3694319" y="1972691"/>
                  <a:pt x="3700670" y="1983128"/>
                </a:cubicBezTo>
                <a:cubicBezTo>
                  <a:pt x="3707325" y="1975376"/>
                  <a:pt x="3704290" y="2019261"/>
                  <a:pt x="3710819" y="2016104"/>
                </a:cubicBezTo>
                <a:cubicBezTo>
                  <a:pt x="3703899" y="2032806"/>
                  <a:pt x="3716180" y="2041037"/>
                  <a:pt x="3716263" y="2057358"/>
                </a:cubicBezTo>
                <a:cubicBezTo>
                  <a:pt x="3714181" y="2066395"/>
                  <a:pt x="3708419" y="2088153"/>
                  <a:pt x="3713451" y="2092532"/>
                </a:cubicBezTo>
                <a:cubicBezTo>
                  <a:pt x="3702969" y="2134723"/>
                  <a:pt x="3713408" y="2112089"/>
                  <a:pt x="3712825" y="2145702"/>
                </a:cubicBezTo>
                <a:cubicBezTo>
                  <a:pt x="3711099" y="2175441"/>
                  <a:pt x="3721651" y="2170882"/>
                  <a:pt x="3710370" y="2205762"/>
                </a:cubicBezTo>
                <a:cubicBezTo>
                  <a:pt x="3706686" y="2213193"/>
                  <a:pt x="3707151" y="2225380"/>
                  <a:pt x="3711407" y="2232983"/>
                </a:cubicBezTo>
                <a:cubicBezTo>
                  <a:pt x="3712139" y="2234292"/>
                  <a:pt x="3712959" y="2235411"/>
                  <a:pt x="3713840" y="2236309"/>
                </a:cubicBezTo>
                <a:cubicBezTo>
                  <a:pt x="3705311" y="2258197"/>
                  <a:pt x="3712810" y="2264929"/>
                  <a:pt x="3706371" y="2276362"/>
                </a:cubicBezTo>
                <a:cubicBezTo>
                  <a:pt x="3707813" y="2303313"/>
                  <a:pt x="3719116" y="2319717"/>
                  <a:pt x="3713548" y="2330164"/>
                </a:cubicBezTo>
                <a:cubicBezTo>
                  <a:pt x="3716700" y="2349548"/>
                  <a:pt x="3722681" y="2379563"/>
                  <a:pt x="3725281" y="2392669"/>
                </a:cubicBezTo>
                <a:cubicBezTo>
                  <a:pt x="3729704" y="2396182"/>
                  <a:pt x="3728251" y="2402767"/>
                  <a:pt x="3729156" y="2408800"/>
                </a:cubicBezTo>
                <a:cubicBezTo>
                  <a:pt x="3733288" y="2414878"/>
                  <a:pt x="3733591" y="2443086"/>
                  <a:pt x="3731527" y="2451803"/>
                </a:cubicBezTo>
                <a:lnTo>
                  <a:pt x="3736702" y="2478754"/>
                </a:lnTo>
                <a:cubicBezTo>
                  <a:pt x="3728550" y="2525478"/>
                  <a:pt x="3760386" y="2545889"/>
                  <a:pt x="3730701" y="2582746"/>
                </a:cubicBezTo>
                <a:cubicBezTo>
                  <a:pt x="3730821" y="2599785"/>
                  <a:pt x="3740171" y="2587220"/>
                  <a:pt x="3740291" y="2604259"/>
                </a:cubicBezTo>
                <a:cubicBezTo>
                  <a:pt x="3743848" y="2626667"/>
                  <a:pt x="3731064" y="2615985"/>
                  <a:pt x="3745312" y="2636571"/>
                </a:cubicBezTo>
                <a:cubicBezTo>
                  <a:pt x="3741774" y="2677126"/>
                  <a:pt x="3756230" y="2698390"/>
                  <a:pt x="3745913" y="2734956"/>
                </a:cubicBezTo>
                <a:cubicBezTo>
                  <a:pt x="3751211" y="2727858"/>
                  <a:pt x="3750682" y="2814031"/>
                  <a:pt x="3749695" y="2825841"/>
                </a:cubicBezTo>
                <a:cubicBezTo>
                  <a:pt x="3749942" y="2850991"/>
                  <a:pt x="3747920" y="2877551"/>
                  <a:pt x="3747393" y="2915771"/>
                </a:cubicBezTo>
                <a:cubicBezTo>
                  <a:pt x="3750755" y="2949567"/>
                  <a:pt x="3739923" y="2933903"/>
                  <a:pt x="3751447" y="2964244"/>
                </a:cubicBezTo>
                <a:cubicBezTo>
                  <a:pt x="3751616" y="2982921"/>
                  <a:pt x="3749341" y="3024704"/>
                  <a:pt x="3748411" y="3027834"/>
                </a:cubicBezTo>
                <a:lnTo>
                  <a:pt x="3748938" y="3029071"/>
                </a:lnTo>
                <a:cubicBezTo>
                  <a:pt x="3750070" y="3034527"/>
                  <a:pt x="3749794" y="3037871"/>
                  <a:pt x="3748894" y="3040270"/>
                </a:cubicBezTo>
                <a:lnTo>
                  <a:pt x="3747334" y="3042558"/>
                </a:lnTo>
                <a:cubicBezTo>
                  <a:pt x="3747162" y="3045102"/>
                  <a:pt x="3746989" y="3047646"/>
                  <a:pt x="3746817" y="3050190"/>
                </a:cubicBezTo>
                <a:lnTo>
                  <a:pt x="3744491" y="3065086"/>
                </a:lnTo>
                <a:lnTo>
                  <a:pt x="3745283" y="3068003"/>
                </a:lnTo>
                <a:lnTo>
                  <a:pt x="3743686" y="3090671"/>
                </a:lnTo>
                <a:lnTo>
                  <a:pt x="3744246" y="3091046"/>
                </a:lnTo>
                <a:cubicBezTo>
                  <a:pt x="3745467" y="3092400"/>
                  <a:pt x="3746300" y="3094375"/>
                  <a:pt x="3746343" y="3097703"/>
                </a:cubicBezTo>
                <a:cubicBezTo>
                  <a:pt x="3754816" y="3093496"/>
                  <a:pt x="3749641" y="3100105"/>
                  <a:pt x="3749018" y="3110287"/>
                </a:cubicBezTo>
                <a:cubicBezTo>
                  <a:pt x="3762039" y="3106026"/>
                  <a:pt x="3755113" y="3134407"/>
                  <a:pt x="3762400" y="3140063"/>
                </a:cubicBezTo>
                <a:cubicBezTo>
                  <a:pt x="3761648" y="3147641"/>
                  <a:pt x="3761093" y="3155576"/>
                  <a:pt x="3760798" y="3163705"/>
                </a:cubicBezTo>
                <a:cubicBezTo>
                  <a:pt x="3760796" y="3165306"/>
                  <a:pt x="3760795" y="3166906"/>
                  <a:pt x="3760793" y="3168507"/>
                </a:cubicBezTo>
                <a:lnTo>
                  <a:pt x="3760925" y="3168621"/>
                </a:lnTo>
                <a:cubicBezTo>
                  <a:pt x="3761203" y="3169703"/>
                  <a:pt x="3761307" y="3171298"/>
                  <a:pt x="3761180" y="3173722"/>
                </a:cubicBezTo>
                <a:lnTo>
                  <a:pt x="3760784" y="3177263"/>
                </a:lnTo>
                <a:lnTo>
                  <a:pt x="3760776" y="3186578"/>
                </a:lnTo>
                <a:lnTo>
                  <a:pt x="3761644" y="3189908"/>
                </a:lnTo>
                <a:cubicBezTo>
                  <a:pt x="3767239" y="3200999"/>
                  <a:pt x="3784386" y="3192521"/>
                  <a:pt x="3778090" y="3215620"/>
                </a:cubicBezTo>
                <a:cubicBezTo>
                  <a:pt x="3782929" y="3238942"/>
                  <a:pt x="3794645" y="3248487"/>
                  <a:pt x="3792860" y="3273934"/>
                </a:cubicBezTo>
                <a:cubicBezTo>
                  <a:pt x="3797428" y="3295746"/>
                  <a:pt x="3804878" y="3312408"/>
                  <a:pt x="3805965" y="3332638"/>
                </a:cubicBezTo>
                <a:cubicBezTo>
                  <a:pt x="3810325" y="3338359"/>
                  <a:pt x="3812891" y="3344736"/>
                  <a:pt x="3809972" y="3354360"/>
                </a:cubicBezTo>
                <a:cubicBezTo>
                  <a:pt x="3815463" y="3373933"/>
                  <a:pt x="3822569" y="3374995"/>
                  <a:pt x="3820366" y="3391014"/>
                </a:cubicBezTo>
                <a:cubicBezTo>
                  <a:pt x="3832550" y="3396219"/>
                  <a:pt x="3828906" y="3399305"/>
                  <a:pt x="3827143" y="3406519"/>
                </a:cubicBezTo>
                <a:cubicBezTo>
                  <a:pt x="3827126" y="3406819"/>
                  <a:pt x="3827110" y="3407118"/>
                  <a:pt x="3827093" y="3407418"/>
                </a:cubicBezTo>
                <a:lnTo>
                  <a:pt x="3828820" y="3408091"/>
                </a:lnTo>
                <a:lnTo>
                  <a:pt x="3830121" y="3410929"/>
                </a:lnTo>
                <a:lnTo>
                  <a:pt x="3831461" y="3420084"/>
                </a:lnTo>
                <a:cubicBezTo>
                  <a:pt x="3831507" y="3421309"/>
                  <a:pt x="3831554" y="3422534"/>
                  <a:pt x="3831600" y="3423759"/>
                </a:cubicBezTo>
                <a:cubicBezTo>
                  <a:pt x="3831831" y="3426205"/>
                  <a:pt x="3832160" y="3427719"/>
                  <a:pt x="3832580" y="3428642"/>
                </a:cubicBezTo>
                <a:cubicBezTo>
                  <a:pt x="3832626" y="3428658"/>
                  <a:pt x="3832672" y="3428675"/>
                  <a:pt x="3832719" y="3428690"/>
                </a:cubicBezTo>
                <a:lnTo>
                  <a:pt x="3832765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9ACE63D-4B64-8948-9D73-1A35720ACA3D}"/>
              </a:ext>
            </a:extLst>
          </p:cNvPr>
          <p:cNvSpPr txBox="1"/>
          <p:nvPr/>
        </p:nvSpPr>
        <p:spPr>
          <a:xfrm>
            <a:off x="4653887" y="2193779"/>
            <a:ext cx="6564573" cy="3908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>
                <a:ln>
                  <a:noFill/>
                </a:ln>
                <a:effectLst/>
              </a:rPr>
              <a:t>Código que Respira:</a:t>
            </a: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Uso de variáveis, funções e estruturas que facilitam a manutenção.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>
                <a:ln>
                  <a:noFill/>
                </a:ln>
                <a:effectLst/>
              </a:rPr>
              <a:t>Vantagens na Prática:</a:t>
            </a:r>
            <a:endParaRPr kumimoji="0" lang="en-US" altLang="pt-BR" sz="20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Produtividade alta com uma pitada de desempenho (sem complicação exagerada).</a:t>
            </a: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2000" b="0" i="0" u="none" strike="noStrike" cap="none" normalizeH="0" baseline="0">
                <a:ln>
                  <a:noFill/>
                </a:ln>
                <a:effectLst/>
              </a:rPr>
              <a:t>Ideal para desenvolvimento ágil, mantendo um bom equilíbrio entre simplicidade e poder.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124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ED94CF-1D45-B14A-CD77-A4B6A0C7B6CA}"/>
              </a:ext>
            </a:extLst>
          </p:cNvPr>
          <p:cNvSpPr txBox="1"/>
          <p:nvPr/>
        </p:nvSpPr>
        <p:spPr>
          <a:xfrm>
            <a:off x="638881" y="390525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Comparação Direta: Assembly vs C/C++ :</a:t>
            </a:r>
          </a:p>
        </p:txBody>
      </p:sp>
      <p:sp>
        <p:nvSpPr>
          <p:cNvPr id="117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Imagem 26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65E3BDE6-A8E1-6E73-7AB1-A0A451A55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77" y="3134918"/>
            <a:ext cx="10118598" cy="288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3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6" name="Rectangle 18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1832F3-1CE2-3503-DC27-5D147724498B}"/>
              </a:ext>
            </a:extLst>
          </p:cNvPr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</a:p>
        </p:txBody>
      </p:sp>
      <p:pic>
        <p:nvPicPr>
          <p:cNvPr id="7" name="Imagem 6" descr="Desenho de um urso de pelúcia&#10;&#10;O conteúdo gerado por IA pode estar incorreto.">
            <a:extLst>
              <a:ext uri="{FF2B5EF4-FFF2-40B4-BE49-F238E27FC236}">
                <a16:creationId xmlns:a16="http://schemas.microsoft.com/office/drawing/2014/main" id="{4C030E2A-4184-1D76-C42B-D0C4B96F3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633984" y="907812"/>
            <a:ext cx="5458968" cy="5442426"/>
          </a:xfrm>
          <a:prstGeom prst="rect">
            <a:avLst/>
          </a:prstGeom>
        </p:spPr>
      </p:pic>
      <p:sp>
        <p:nvSpPr>
          <p:cNvPr id="19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95770268-2B49-4DD9-9EEC-19BD62BB47B8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900" b="1" i="0" u="none" strike="noStrike" cap="none" normalizeH="0" baseline="0">
                <a:ln>
                  <a:noFill/>
                </a:ln>
                <a:effectLst/>
              </a:rPr>
              <a:t>Controlar ou Facilitar?</a:t>
            </a:r>
            <a:endParaRPr kumimoji="0" lang="en-US" altLang="pt-BR" sz="19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1900" b="0" i="0" u="none" strike="noStrike" cap="none" normalizeH="0" baseline="0">
                <a:ln>
                  <a:noFill/>
                </a:ln>
                <a:effectLst/>
              </a:rPr>
              <a:t>Assembly: para quem busca otimização extrema e tem paciência para detalhes.</a:t>
            </a: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1900" b="0" i="0" u="none" strike="noStrike" cap="none" normalizeH="0" baseline="0">
                <a:ln>
                  <a:noFill/>
                </a:ln>
                <a:effectLst/>
              </a:rPr>
              <a:t>C/C++: para quem valoriza produtividade e manutenção sem estresse.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9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900" b="1" i="0" u="none" strike="noStrike" cap="none" normalizeH="0" baseline="0">
                <a:ln>
                  <a:noFill/>
                </a:ln>
                <a:effectLst/>
              </a:rPr>
              <a:t>Reflexão Final:</a:t>
            </a:r>
            <a:endParaRPr kumimoji="0" lang="en-US" altLang="pt-BR" sz="1900" b="0" i="0" u="none" strike="noStrike" cap="none" normalizeH="0" baseline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pt-BR" sz="1900" b="0" i="0" u="none" strike="noStrike" cap="none" normalizeH="0" baseline="0">
                <a:ln>
                  <a:noFill/>
                </a:ln>
                <a:effectLst/>
              </a:rPr>
              <a:t>A escolha depende do projeto e do seu estilo de trabalho.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01854FD-3F71-60EA-9A3C-6E127B33F8D2}"/>
              </a:ext>
            </a:extLst>
          </p:cNvPr>
          <p:cNvSpPr txBox="1"/>
          <p:nvPr/>
        </p:nvSpPr>
        <p:spPr>
          <a:xfrm>
            <a:off x="4498848" y="1191823"/>
            <a:ext cx="829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C/C++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80758C6-7E64-AFAE-7BDD-65788739DAB1}"/>
              </a:ext>
            </a:extLst>
          </p:cNvPr>
          <p:cNvSpPr txBox="1"/>
          <p:nvPr/>
        </p:nvSpPr>
        <p:spPr>
          <a:xfrm>
            <a:off x="1694857" y="1191823"/>
            <a:ext cx="116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Assembly</a:t>
            </a:r>
          </a:p>
        </p:txBody>
      </p:sp>
    </p:spTree>
    <p:extLst>
      <p:ext uri="{BB962C8B-B14F-4D97-AF65-F5344CB8AC3E}">
        <p14:creationId xmlns:p14="http://schemas.microsoft.com/office/powerpoint/2010/main" val="88790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6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959471-940F-F80A-7A52-AC9B497F746E}"/>
              </a:ext>
            </a:extLst>
          </p:cNvPr>
          <p:cNvSpPr txBox="1"/>
          <p:nvPr/>
        </p:nvSpPr>
        <p:spPr>
          <a:xfrm>
            <a:off x="1144505" y="2714625"/>
            <a:ext cx="4065668" cy="302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GitHub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11" name="Imagem 10" descr="Desenho de uma garrafa&#10;&#10;O conteúdo gerado por IA pode estar incorreto.">
            <a:extLst>
              <a:ext uri="{FF2B5EF4-FFF2-40B4-BE49-F238E27FC236}">
                <a16:creationId xmlns:a16="http://schemas.microsoft.com/office/drawing/2014/main" id="{E3697F31-D990-70BF-E393-8EE71BA47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" r="1" b="1"/>
          <a:stretch/>
        </p:blipFill>
        <p:spPr>
          <a:xfrm>
            <a:off x="5534026" y="1468292"/>
            <a:ext cx="2682054" cy="3692880"/>
          </a:xfrm>
          <a:prstGeom prst="rect">
            <a:avLst/>
          </a:prstGeom>
        </p:spPr>
      </p:pic>
      <p:pic>
        <p:nvPicPr>
          <p:cNvPr id="13" name="Imagem 12" descr="Uma imagem contendo frente, banqueta, secador, segurando&#10;&#10;O conteúdo gerado por IA pode estar incorreto.">
            <a:extLst>
              <a:ext uri="{FF2B5EF4-FFF2-40B4-BE49-F238E27FC236}">
                <a16:creationId xmlns:a16="http://schemas.microsoft.com/office/drawing/2014/main" id="{CCA0AE1D-21DC-CBBA-B1DD-CC6A5A482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5" b="-3"/>
          <a:stretch/>
        </p:blipFill>
        <p:spPr>
          <a:xfrm>
            <a:off x="8537813" y="1492718"/>
            <a:ext cx="2682054" cy="3644021"/>
          </a:xfrm>
          <a:prstGeom prst="rect">
            <a:avLst/>
          </a:prstGeom>
        </p:spPr>
      </p:pic>
      <p:sp>
        <p:nvSpPr>
          <p:cNvPr id="94" name="Rectangle 6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6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uxograma: Processo 81">
            <a:extLst>
              <a:ext uri="{FF2B5EF4-FFF2-40B4-BE49-F238E27FC236}">
                <a16:creationId xmlns:a16="http://schemas.microsoft.com/office/drawing/2014/main" id="{F5001983-F079-7C2F-F8FE-5782DDE6F35B}"/>
              </a:ext>
            </a:extLst>
          </p:cNvPr>
          <p:cNvSpPr/>
          <p:nvPr/>
        </p:nvSpPr>
        <p:spPr>
          <a:xfrm>
            <a:off x="0" y="6400372"/>
            <a:ext cx="4038598" cy="457199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Fluxograma: Processo 85">
            <a:extLst>
              <a:ext uri="{FF2B5EF4-FFF2-40B4-BE49-F238E27FC236}">
                <a16:creationId xmlns:a16="http://schemas.microsoft.com/office/drawing/2014/main" id="{6621EA6B-4BBF-5805-BDC6-A7F32441AD08}"/>
              </a:ext>
            </a:extLst>
          </p:cNvPr>
          <p:cNvSpPr/>
          <p:nvPr/>
        </p:nvSpPr>
        <p:spPr>
          <a:xfrm>
            <a:off x="4038598" y="6400370"/>
            <a:ext cx="8153402" cy="457630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hlinkClick r:id="rId4"/>
            <a:extLst>
              <a:ext uri="{FF2B5EF4-FFF2-40B4-BE49-F238E27FC236}">
                <a16:creationId xmlns:a16="http://schemas.microsoft.com/office/drawing/2014/main" id="{DCAC32C2-BD62-DDCA-AF5B-7BF0CC143908}"/>
              </a:ext>
            </a:extLst>
          </p:cNvPr>
          <p:cNvSpPr txBox="1"/>
          <p:nvPr/>
        </p:nvSpPr>
        <p:spPr>
          <a:xfrm>
            <a:off x="296679" y="3429000"/>
            <a:ext cx="3445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Link para o repositório no GitHub</a:t>
            </a:r>
          </a:p>
        </p:txBody>
      </p:sp>
    </p:spTree>
    <p:extLst>
      <p:ext uri="{BB962C8B-B14F-4D97-AF65-F5344CB8AC3E}">
        <p14:creationId xmlns:p14="http://schemas.microsoft.com/office/powerpoint/2010/main" val="768873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418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do Office</vt:lpstr>
      <vt:lpstr>Comparação entre Assembly e C/C++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Henrique</dc:creator>
  <cp:lastModifiedBy>Gabriel Henrique</cp:lastModifiedBy>
  <cp:revision>1</cp:revision>
  <dcterms:created xsi:type="dcterms:W3CDTF">2025-03-29T14:00:17Z</dcterms:created>
  <dcterms:modified xsi:type="dcterms:W3CDTF">2025-03-29T18:32:16Z</dcterms:modified>
</cp:coreProperties>
</file>